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 Thin"/>
      <p:regular r:id="rId27"/>
      <p:bold r:id="rId28"/>
      <p:italic r:id="rId29"/>
      <p:boldItalic r:id="rId30"/>
    </p:embeddedFont>
    <p:embeddedFont>
      <p:font typeface="Economica"/>
      <p:regular r:id="rId31"/>
      <p:bold r:id="rId32"/>
      <p:italic r:id="rId33"/>
      <p:boldItalic r:id="rId34"/>
    </p:embeddedFont>
    <p:embeddedFont>
      <p:font typeface="Roboto Medium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Montserrat ExtraBold"/>
      <p:bold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DDABB0-5DE0-45B0-B174-3A4BF64C0DA6}">
  <a:tblStyle styleId="{EADDABB0-5DE0-45B0-B174-3A4BF64C0D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bold.fntdata"/><Relationship Id="rId47" Type="http://schemas.openxmlformats.org/officeDocument/2006/relationships/font" Target="fonts/MontserratMedium-regular.fntdata"/><Relationship Id="rId49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regular.fntdata"/><Relationship Id="rId30" Type="http://schemas.openxmlformats.org/officeDocument/2006/relationships/font" Target="fonts/RobotoThin-boldItalic.fntdata"/><Relationship Id="rId33" Type="http://schemas.openxmlformats.org/officeDocument/2006/relationships/font" Target="fonts/Economica-italic.fntdata"/><Relationship Id="rId32" Type="http://schemas.openxmlformats.org/officeDocument/2006/relationships/font" Target="fonts/Economica-bold.fntdata"/><Relationship Id="rId35" Type="http://schemas.openxmlformats.org/officeDocument/2006/relationships/font" Target="fonts/RobotoMedium-regular.fntdata"/><Relationship Id="rId34" Type="http://schemas.openxmlformats.org/officeDocument/2006/relationships/font" Target="fonts/Economica-boldItalic.fntdata"/><Relationship Id="rId37" Type="http://schemas.openxmlformats.org/officeDocument/2006/relationships/font" Target="fonts/RobotoMedium-italic.fntdata"/><Relationship Id="rId36" Type="http://schemas.openxmlformats.org/officeDocument/2006/relationships/font" Target="fonts/RobotoMedium-bold.fntdata"/><Relationship Id="rId39" Type="http://schemas.openxmlformats.org/officeDocument/2006/relationships/font" Target="fonts/Roboto-regular.fntdata"/><Relationship Id="rId38" Type="http://schemas.openxmlformats.org/officeDocument/2006/relationships/font" Target="fonts/Roboto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Thin-bold.fntdata"/><Relationship Id="rId27" Type="http://schemas.openxmlformats.org/officeDocument/2006/relationships/font" Target="fonts/RobotoThin-regular.fntdata"/><Relationship Id="rId29" Type="http://schemas.openxmlformats.org/officeDocument/2006/relationships/font" Target="fonts/RobotoThin-italic.fntdata"/><Relationship Id="rId51" Type="http://schemas.openxmlformats.org/officeDocument/2006/relationships/font" Target="fonts/MontserratExtraBold-bold.fntdata"/><Relationship Id="rId50" Type="http://schemas.openxmlformats.org/officeDocument/2006/relationships/font" Target="fonts/MontserratMedium-boldItalic.fntdata"/><Relationship Id="rId53" Type="http://schemas.openxmlformats.org/officeDocument/2006/relationships/font" Target="fonts/OpenSans-regular.fntdata"/><Relationship Id="rId52" Type="http://schemas.openxmlformats.org/officeDocument/2006/relationships/font" Target="fonts/MontserratExtraBold-boldItalic.fntdata"/><Relationship Id="rId11" Type="http://schemas.openxmlformats.org/officeDocument/2006/relationships/slide" Target="slides/slide5.xml"/><Relationship Id="rId55" Type="http://schemas.openxmlformats.org/officeDocument/2006/relationships/font" Target="fonts/OpenSans-italic.fntdata"/><Relationship Id="rId10" Type="http://schemas.openxmlformats.org/officeDocument/2006/relationships/slide" Target="slides/slide4.xml"/><Relationship Id="rId54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80b92e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80b92e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80b92e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980b92e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80b92ef8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980b92ef8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a383169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a383169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980b92ef8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980b92ef8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6d4f2e5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6d4f2e5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980b92ef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980b92ef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980b92ef8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980b92ef8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9edaf7ee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9edaf7ee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a011ff1e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a011ff1e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a011ff1e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a011ff1e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9edaf7e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9edaf7e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a011ff1e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a011ff1e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a49e725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a49e725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a011ff1e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a011ff1e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980b92ef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980b92ef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b6d4f2e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b6d4f2e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980b92ef8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980b92ef8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980b92ef8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980b92ef8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4294967295"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ML4DS</a:t>
            </a:r>
            <a:endParaRPr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Machine Learning for Data Science</a:t>
            </a:r>
            <a:endParaRPr sz="2933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" name="Google Shape;63;p13"/>
          <p:cNvSpPr txBox="1"/>
          <p:nvPr>
            <p:ph idx="4294967295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Final presentation</a:t>
            </a:r>
            <a:endParaRPr>
              <a:solidFill>
                <a:srgbClr val="43434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4" name="Google Shape;64;p13" title="marca-universidad-de-la-laguna-original.png"/>
          <p:cNvPicPr preferRelativeResize="0"/>
          <p:nvPr/>
        </p:nvPicPr>
        <p:blipFill rotWithShape="1">
          <a:blip r:embed="rId3">
            <a:alphaModFix/>
          </a:blip>
          <a:srcRect b="23398" l="11074" r="7855" t="20716"/>
          <a:stretch/>
        </p:blipFill>
        <p:spPr>
          <a:xfrm>
            <a:off x="7208050" y="4337700"/>
            <a:ext cx="1624250" cy="4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IPB-Cor@2x.png"/>
          <p:cNvPicPr preferRelativeResize="0"/>
          <p:nvPr/>
        </p:nvPicPr>
        <p:blipFill rotWithShape="1">
          <a:blip r:embed="rId4">
            <a:alphaModFix/>
          </a:blip>
          <a:srcRect b="10931" l="0" r="0" t="7794"/>
          <a:stretch/>
        </p:blipFill>
        <p:spPr>
          <a:xfrm>
            <a:off x="311700" y="4323737"/>
            <a:ext cx="2414299" cy="5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8946" y="220500"/>
            <a:ext cx="2073994" cy="41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071" y="220500"/>
            <a:ext cx="2602305" cy="5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0" y="145791"/>
            <a:ext cx="9144000" cy="4851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IPB-Cor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75" y="1591075"/>
            <a:ext cx="4548626" cy="12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title="marca-universidad-de-la-laguna-original.png"/>
          <p:cNvPicPr preferRelativeResize="0"/>
          <p:nvPr/>
        </p:nvPicPr>
        <p:blipFill rotWithShape="1">
          <a:blip r:embed="rId5">
            <a:alphaModFix/>
          </a:blip>
          <a:srcRect b="23398" l="0" r="0" t="20716"/>
          <a:stretch/>
        </p:blipFill>
        <p:spPr>
          <a:xfrm>
            <a:off x="5011275" y="1733390"/>
            <a:ext cx="3755803" cy="9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4294967295" type="subTitle"/>
          </p:nvPr>
        </p:nvSpPr>
        <p:spPr>
          <a:xfrm>
            <a:off x="850088" y="3896205"/>
            <a:ext cx="3054600" cy="70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t-BR" sz="1660">
                <a:latin typeface="Montserrat"/>
                <a:ea typeface="Montserrat"/>
                <a:cs typeface="Montserrat"/>
                <a:sym typeface="Montserrat"/>
              </a:rPr>
              <a:t>Leonardo Canuto</a:t>
            </a:r>
            <a:endParaRPr b="1" sz="166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pt-BR" sz="1660">
                <a:latin typeface="Montserrat"/>
                <a:ea typeface="Montserrat"/>
                <a:cs typeface="Montserrat"/>
                <a:sym typeface="Montserrat"/>
              </a:rPr>
              <a:t>Vinicius Takemoto</a:t>
            </a:r>
            <a:endParaRPr b="1" sz="166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4"/>
          <p:cNvSpPr txBox="1"/>
          <p:nvPr>
            <p:ph idx="4294967295" type="subTitle"/>
          </p:nvPr>
        </p:nvSpPr>
        <p:spPr>
          <a:xfrm>
            <a:off x="5361863" y="3896205"/>
            <a:ext cx="3054600" cy="70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t-BR" sz="1660">
                <a:latin typeface="Montserrat"/>
                <a:ea typeface="Montserrat"/>
                <a:cs typeface="Montserrat"/>
                <a:sym typeface="Montserrat"/>
              </a:rPr>
              <a:t>Sergio Lugo Couros</a:t>
            </a:r>
            <a:endParaRPr b="1" sz="166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pt-BR" sz="1660">
                <a:latin typeface="Montserrat"/>
                <a:ea typeface="Montserrat"/>
                <a:cs typeface="Montserrat"/>
                <a:sym typeface="Montserrat"/>
              </a:rPr>
              <a:t>Raúl Lorenzo Parrado</a:t>
            </a:r>
            <a:endParaRPr b="1" sz="166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532750" y="1255525"/>
            <a:ext cx="829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AutoNum type="arabi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Montserrat"/>
              <a:buAutoNum type="arabi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AutoNum type="arabi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Our Approach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lphaL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CNNs for Glaucoma Classification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lphaL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lphaL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GradCam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lphaL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Surrogate models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AutoNum type="arabicPeriod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idx="4294967295" type="body"/>
          </p:nvPr>
        </p:nvSpPr>
        <p:spPr>
          <a:xfrm>
            <a:off x="425250" y="1363500"/>
            <a:ext cx="8293500" cy="27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We began the work by conducting research to determine the best model to work with.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For this, we use the famous divide and conquer strategy :)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Our group split into two to investigate and look for clues. Like…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77" y="1275925"/>
            <a:ext cx="5756849" cy="287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idx="4294967295" type="body"/>
          </p:nvPr>
        </p:nvSpPr>
        <p:spPr>
          <a:xfrm>
            <a:off x="311700" y="1271588"/>
            <a:ext cx="87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And each of the pairs found your best model: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pt-BR" sz="3040">
                <a:latin typeface="Montserrat"/>
                <a:ea typeface="Montserrat"/>
                <a:cs typeface="Montserrat"/>
                <a:sym typeface="Montserrat"/>
              </a:rPr>
              <a:t>VGG19</a:t>
            </a:r>
            <a:endParaRPr b="1" sz="30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pt-BR" sz="3040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 sz="30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040">
                <a:latin typeface="Montserrat"/>
                <a:ea typeface="Montserrat"/>
                <a:cs typeface="Montserrat"/>
                <a:sym typeface="Montserrat"/>
              </a:rPr>
              <a:t>ResNet50</a:t>
            </a:r>
            <a:endParaRPr b="1" sz="30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VGG 19 (Data transformation)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idx="4294967295" type="body"/>
          </p:nvPr>
        </p:nvSpPr>
        <p:spPr>
          <a:xfrm>
            <a:off x="287100" y="1213963"/>
            <a:ext cx="85698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98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Font typeface="Montserrat"/>
              <a:buChar char="●"/>
            </a:pPr>
            <a:r>
              <a:rPr b="1" lang="pt-BR" sz="1280">
                <a:latin typeface="Montserrat"/>
                <a:ea typeface="Montserrat"/>
                <a:cs typeface="Montserrat"/>
                <a:sym typeface="Montserrat"/>
              </a:rPr>
              <a:t>Training pipeline applies:</a:t>
            </a:r>
            <a:endParaRPr b="1"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Resize all images to </a:t>
            </a:r>
            <a:r>
              <a:rPr lang="pt-BR" sz="1380">
                <a:latin typeface="Montserrat"/>
                <a:ea typeface="Montserrat"/>
                <a:cs typeface="Montserrat"/>
                <a:sym typeface="Montserrat"/>
              </a:rPr>
              <a:t>224×224</a:t>
            </a:r>
            <a:endParaRPr sz="13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Random horizontal flip with probability (0.5) to add mild left-right invariance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Random rotation up to </a:t>
            </a:r>
            <a:r>
              <a:rPr lang="pt-BR" sz="1380">
                <a:latin typeface="Montserrat"/>
                <a:ea typeface="Montserrat"/>
                <a:cs typeface="Montserrat"/>
                <a:sym typeface="Montserrat"/>
              </a:rPr>
              <a:t>15°</a:t>
            </a: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 to add small viewpoint/pose robustness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20">
                <a:latin typeface="Montserrat"/>
                <a:ea typeface="Montserrat"/>
                <a:cs typeface="Montserrat"/>
                <a:sym typeface="Montserrat"/>
              </a:rPr>
              <a:t>Use a ColorJitter</a:t>
            </a: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 was removed to preserve original morphological/visual features (avoid altering color-based cues)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Font typeface="Montserrat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Convert images to PyTorch tensors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Normalize using ImageNet mean </a:t>
            </a:r>
            <a:r>
              <a:rPr lang="pt-BR" sz="1380">
                <a:latin typeface="Montserrat"/>
                <a:ea typeface="Montserrat"/>
                <a:cs typeface="Montserrat"/>
                <a:sym typeface="Montserrat"/>
              </a:rPr>
              <a:t>[0.485,0.456,0.406]</a:t>
            </a: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 and std </a:t>
            </a:r>
            <a:r>
              <a:rPr lang="pt-BR" sz="1380">
                <a:latin typeface="Montserrat"/>
                <a:ea typeface="Montserrat"/>
                <a:cs typeface="Montserrat"/>
                <a:sym typeface="Montserrat"/>
              </a:rPr>
              <a:t>[0.229,0.224,0.225] </a:t>
            </a: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to match common pretrained model expectations and stabilize training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Font typeface="Montserrat"/>
              <a:buChar char="●"/>
            </a:pPr>
            <a:r>
              <a:rPr b="1" lang="pt-BR" sz="1280">
                <a:latin typeface="Montserrat"/>
                <a:ea typeface="Montserrat"/>
                <a:cs typeface="Montserrat"/>
                <a:sym typeface="Montserrat"/>
              </a:rPr>
              <a:t>Test pipeline applies:</a:t>
            </a:r>
            <a:endParaRPr b="1"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Font typeface="Roboto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Resize to </a:t>
            </a:r>
            <a:r>
              <a:rPr lang="pt-BR" sz="1380">
                <a:latin typeface="Montserrat"/>
                <a:ea typeface="Montserrat"/>
                <a:cs typeface="Montserrat"/>
                <a:sym typeface="Montserrat"/>
              </a:rPr>
              <a:t>224×224</a:t>
            </a:r>
            <a:endParaRPr sz="13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Font typeface="Montserrat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Convert to tensor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-30988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Font typeface="Montserrat"/>
              <a:buChar char="●"/>
            </a:pPr>
            <a:r>
              <a:rPr lang="pt-BR" sz="1280">
                <a:latin typeface="Montserrat"/>
                <a:ea typeface="Montserrat"/>
                <a:cs typeface="Montserrat"/>
                <a:sym typeface="Montserrat"/>
              </a:rPr>
              <a:t>Apply the same ImageNet normalization to ensure                                                                          train/test preprocessing consistency</a:t>
            </a:r>
            <a:endParaRPr sz="128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5000"/>
              </a:lnSpc>
              <a:spcBef>
                <a:spcPts val="9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144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VGG 19 Approach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idx="4294967295" type="body"/>
          </p:nvPr>
        </p:nvSpPr>
        <p:spPr>
          <a:xfrm>
            <a:off x="1128600" y="1587700"/>
            <a:ext cx="4616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b="1" lang="pt-BR" sz="1600">
                <a:latin typeface="Montserrat"/>
                <a:ea typeface="Montserrat"/>
                <a:cs typeface="Montserrat"/>
                <a:sym typeface="Montserrat"/>
              </a:rPr>
              <a:t>VGG19_bn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Batch size: 32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Learning rate: 0.001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Optimizer: Adam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Epochs: 20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ropout</a:t>
            </a: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: 0.7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ustom_head: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1" marL="13716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ayer_1: Linear(512 -&gt; 256)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1" marL="13716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Activation: ReLU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1" marL="13716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Dropout_1: 0.7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1" marL="13716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Layer_2: Linear(256 -&gt; 2)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22580" lvl="0" marL="914400" rtl="0" algn="just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-"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Pretrained Weights → ImageNet1K_V1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1"/>
          <p:cNvSpPr txBox="1"/>
          <p:nvPr>
            <p:ph idx="4294967295" type="body"/>
          </p:nvPr>
        </p:nvSpPr>
        <p:spPr>
          <a:xfrm>
            <a:off x="311700" y="1017725"/>
            <a:ext cx="147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VGG19_bn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1"/>
          <p:cNvGraphicFramePr/>
          <p:nvPr/>
        </p:nvGraphicFramePr>
        <p:xfrm>
          <a:off x="1923838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{EADDABB0-5DE0-45B0-B174-3A4BF64C0DA6}</a:tableStyleId>
              </a:tblPr>
              <a:tblGrid>
                <a:gridCol w="1704550"/>
                <a:gridCol w="1704550"/>
                <a:gridCol w="1704550"/>
              </a:tblGrid>
              <a:tr h="6877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 metrics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dk1"/>
                          </a:solidFill>
                        </a:rPr>
                        <a:t>Local set</a:t>
                      </a:r>
                      <a:endParaRPr sz="1600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dk1"/>
                          </a:solidFill>
                        </a:rPr>
                        <a:t>Teacher’s set</a:t>
                      </a:r>
                      <a:endParaRPr sz="1500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5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Balanced 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0.8676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0.7608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0.8904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0.7362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Precision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0.5616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0.4811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Recall (Sensitivity)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0.9468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0.8095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Specificity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0.7884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0.7120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F1 Score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0.9175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0.6036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AUC-ROC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0.9592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0.8669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sul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2"/>
          <p:cNvSpPr txBox="1"/>
          <p:nvPr>
            <p:ph idx="4294967295" type="body"/>
          </p:nvPr>
        </p:nvSpPr>
        <p:spPr>
          <a:xfrm>
            <a:off x="311700" y="1152475"/>
            <a:ext cx="182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VGG19_bn (trained with all the data)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3" name="Google Shape;133;p22"/>
          <p:cNvGraphicFramePr/>
          <p:nvPr/>
        </p:nvGraphicFramePr>
        <p:xfrm>
          <a:off x="2422413" y="9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{EADDABB0-5DE0-45B0-B174-3A4BF64C0DA6}</a:tableStyleId>
              </a:tblPr>
              <a:tblGrid>
                <a:gridCol w="1617050"/>
                <a:gridCol w="1425525"/>
                <a:gridCol w="1425525"/>
              </a:tblGrid>
              <a:tr h="215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 metrics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Training Set</a:t>
                      </a:r>
                      <a:endParaRPr sz="1600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1"/>
                          </a:solidFill>
                        </a:rPr>
                        <a:t>Test Set + Training Set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5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Balanced 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0.7608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0.7715 </a:t>
                      </a:r>
                      <a:r>
                        <a:rPr lang="pt-BR">
                          <a:solidFill>
                            <a:srgbClr val="4EE601"/>
                          </a:solidFill>
                        </a:rPr>
                        <a:t>↑</a:t>
                      </a:r>
                      <a:endParaRPr>
                        <a:solidFill>
                          <a:srgbClr val="4EE60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0.7362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0.7283 </a:t>
                      </a:r>
                      <a:r>
                        <a:rPr lang="pt-BR">
                          <a:solidFill>
                            <a:srgbClr val="FF0000"/>
                          </a:solidFill>
                        </a:rPr>
                        <a:t>↓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36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Precision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0.4811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0.4737 </a:t>
                      </a:r>
                      <a:r>
                        <a:rPr lang="pt-BR">
                          <a:solidFill>
                            <a:srgbClr val="FF0000"/>
                          </a:solidFill>
                        </a:rPr>
                        <a:t>↓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5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Recall (Sensitivity)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0.8095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0.8571 </a:t>
                      </a:r>
                      <a:r>
                        <a:rPr lang="pt-BR">
                          <a:solidFill>
                            <a:srgbClr val="4EE601"/>
                          </a:solidFill>
                        </a:rPr>
                        <a:t>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6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Specificity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0.7120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0.6859 </a:t>
                      </a:r>
                      <a:r>
                        <a:rPr lang="pt-BR">
                          <a:solidFill>
                            <a:srgbClr val="FF0000"/>
                          </a:solidFill>
                        </a:rPr>
                        <a:t>↓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6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F1 Score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0.6036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0.6102 </a:t>
                      </a:r>
                      <a:r>
                        <a:rPr lang="pt-BR">
                          <a:solidFill>
                            <a:srgbClr val="4EE601"/>
                          </a:solidFill>
                        </a:rPr>
                        <a:t>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5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AUC-ROC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0.8669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0.8881 </a:t>
                      </a:r>
                      <a:r>
                        <a:rPr lang="pt-BR">
                          <a:solidFill>
                            <a:srgbClr val="4EE601"/>
                          </a:solidFill>
                        </a:rPr>
                        <a:t>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ResNet50 Approach</a:t>
            </a:r>
            <a:endParaRPr/>
          </a:p>
        </p:txBody>
      </p:sp>
      <p:sp>
        <p:nvSpPr>
          <p:cNvPr id="140" name="Google Shape;140;p23"/>
          <p:cNvSpPr txBox="1"/>
          <p:nvPr>
            <p:ph idx="4294967295" type="body"/>
          </p:nvPr>
        </p:nvSpPr>
        <p:spPr>
          <a:xfrm>
            <a:off x="1702350" y="1580025"/>
            <a:ext cx="5739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Training Setup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Architecture: ResNet50 Pretrained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Batch size: 32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Learning rate: 0.0001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Optimizer: AdamW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Epochs: 50 (with early stop)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-"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Reduce Learning Rate on plateau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ResNet50 Approach</a:t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600775" y="1612350"/>
            <a:ext cx="1714500" cy="9594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Open Sans"/>
                <a:ea typeface="Open Sans"/>
                <a:cs typeface="Open Sans"/>
                <a:sym typeface="Open Sans"/>
              </a:rPr>
              <a:t>Data Preprocessing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2676750" y="1612350"/>
            <a:ext cx="1714500" cy="9594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K-Fold Cross-Validation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752725" y="1612350"/>
            <a:ext cx="1714500" cy="9594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Open Sans"/>
                <a:ea typeface="Open Sans"/>
                <a:cs typeface="Open Sans"/>
                <a:sym typeface="Open Sans"/>
              </a:rPr>
              <a:t>Best Model Selection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828700" y="1612350"/>
            <a:ext cx="1714500" cy="9594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Open Sans"/>
                <a:ea typeface="Open Sans"/>
                <a:cs typeface="Open Sans"/>
                <a:sym typeface="Open Sans"/>
              </a:rPr>
              <a:t>Final Inference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0" name="Google Shape;150;p24"/>
          <p:cNvCxnSpPr>
            <a:stCxn id="146" idx="3"/>
            <a:endCxn id="147" idx="1"/>
          </p:cNvCxnSpPr>
          <p:nvPr/>
        </p:nvCxnSpPr>
        <p:spPr>
          <a:xfrm>
            <a:off x="2315275" y="2092050"/>
            <a:ext cx="3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4"/>
          <p:cNvCxnSpPr>
            <a:stCxn id="147" idx="3"/>
            <a:endCxn id="148" idx="1"/>
          </p:cNvCxnSpPr>
          <p:nvPr/>
        </p:nvCxnSpPr>
        <p:spPr>
          <a:xfrm>
            <a:off x="4391250" y="2092050"/>
            <a:ext cx="3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4"/>
          <p:cNvCxnSpPr>
            <a:stCxn id="148" idx="3"/>
            <a:endCxn id="149" idx="1"/>
          </p:cNvCxnSpPr>
          <p:nvPr/>
        </p:nvCxnSpPr>
        <p:spPr>
          <a:xfrm>
            <a:off x="6467225" y="2092050"/>
            <a:ext cx="3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4"/>
          <p:cNvSpPr/>
          <p:nvPr/>
        </p:nvSpPr>
        <p:spPr>
          <a:xfrm>
            <a:off x="600875" y="2846425"/>
            <a:ext cx="1714500" cy="1251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Resize, Augmentation, Normalization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2676750" y="2846425"/>
            <a:ext cx="1714500" cy="1251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Training, Loss, Threshold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4752625" y="2846425"/>
            <a:ext cx="1714500" cy="1251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Max Balanced Accuracy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828500" y="2846425"/>
            <a:ext cx="1714500" cy="1251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Apply fixed validation Threshold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5"/>
          <p:cNvSpPr txBox="1"/>
          <p:nvPr>
            <p:ph idx="4294967295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ResNet50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25"/>
          <p:cNvGraphicFramePr/>
          <p:nvPr/>
        </p:nvGraphicFramePr>
        <p:xfrm>
          <a:off x="2335350" y="104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{EADDABB0-5DE0-45B0-B174-3A4BF64C0DA6}</a:tableStyleId>
              </a:tblPr>
              <a:tblGrid>
                <a:gridCol w="1613150"/>
                <a:gridCol w="1613150"/>
                <a:gridCol w="1613150"/>
              </a:tblGrid>
              <a:tr h="6681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 metrics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Local set</a:t>
                      </a:r>
                      <a:endParaRPr sz="1600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Teacher’s set</a:t>
                      </a:r>
                      <a:endParaRPr sz="1600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Balanced 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0.8965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0.8684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Accuracy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0.9110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0.8740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Precision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0.9175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0.7013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Recall (Sensitivity)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0.9468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0.8571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Specificity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0.8462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0.8796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F1 Score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0.9319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0.7714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AUC-ROC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0.9730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0.9378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GradCam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4294967295" type="body"/>
          </p:nvPr>
        </p:nvSpPr>
        <p:spPr>
          <a:xfrm>
            <a:off x="204450" y="1540175"/>
            <a:ext cx="8735100" cy="23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latin typeface="Montserrat"/>
                <a:ea typeface="Montserrat"/>
                <a:cs typeface="Montserrat"/>
                <a:sym typeface="Montserrat"/>
              </a:rPr>
              <a:t>We used GradCam to explain how our model was making the classification.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700">
                <a:latin typeface="Montserrat"/>
                <a:ea typeface="Montserrat"/>
                <a:cs typeface="Montserrat"/>
                <a:sym typeface="Montserrat"/>
              </a:rPr>
              <a:t>And for two different approaches we found two different results: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GradCam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7"/>
          <p:cNvSpPr txBox="1"/>
          <p:nvPr>
            <p:ph idx="4294967295" type="body"/>
          </p:nvPr>
        </p:nvSpPr>
        <p:spPr>
          <a:xfrm>
            <a:off x="736775" y="1017725"/>
            <a:ext cx="147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VGG19_bn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 title="r3_N-33-L_left_half_normal_prednorm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46701"/>
            <a:ext cx="9144000" cy="273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GradCam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 title="r3_G-33-R_left_half_glaucoma_predglauco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46347"/>
            <a:ext cx="9144000" cy="273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 txBox="1"/>
          <p:nvPr>
            <p:ph idx="4294967295" type="body"/>
          </p:nvPr>
        </p:nvSpPr>
        <p:spPr>
          <a:xfrm>
            <a:off x="736775" y="1017725"/>
            <a:ext cx="147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ResNet50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Surrogate 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9"/>
          <p:cNvGrpSpPr/>
          <p:nvPr/>
        </p:nvGrpSpPr>
        <p:grpSpPr>
          <a:xfrm>
            <a:off x="1234634" y="2721645"/>
            <a:ext cx="6674719" cy="720977"/>
            <a:chOff x="1593000" y="2322568"/>
            <a:chExt cx="5957975" cy="643500"/>
          </a:xfrm>
        </p:grpSpPr>
        <p:sp>
          <p:nvSpPr>
            <p:cNvPr id="195" name="Google Shape;195;p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4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Regression Tree Depth 10</a:t>
              </a:r>
              <a:endParaRPr sz="134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0033" rotWithShape="0" algn="bl" dir="2700000" dist="32013">
                <a:srgbClr val="000000">
                  <a:alpha val="17000"/>
                </a:srgbClr>
              </a:outerShdw>
            </a:effectLst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12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91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01" name="Google Shape;201;p29"/>
          <p:cNvGrpSpPr/>
          <p:nvPr/>
        </p:nvGrpSpPr>
        <p:grpSpPr>
          <a:xfrm>
            <a:off x="1234634" y="1987701"/>
            <a:ext cx="6674719" cy="720977"/>
            <a:chOff x="1593000" y="2322568"/>
            <a:chExt cx="5957975" cy="643500"/>
          </a:xfrm>
        </p:grpSpPr>
        <p:sp>
          <p:nvSpPr>
            <p:cNvPr id="202" name="Google Shape;202;p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4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Regression Tree Depth 5</a:t>
              </a:r>
              <a:endParaRPr sz="134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06" name="Google Shape;206;p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80033" rotWithShape="0" algn="bl" dir="2700000" dist="32013">
                <a:srgbClr val="000000">
                  <a:alpha val="17000"/>
                </a:srgbClr>
              </a:outerShdw>
            </a:effectLst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12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91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08" name="Google Shape;208;p29"/>
          <p:cNvGrpSpPr/>
          <p:nvPr/>
        </p:nvGrpSpPr>
        <p:grpSpPr>
          <a:xfrm>
            <a:off x="1234648" y="1253747"/>
            <a:ext cx="6674719" cy="720985"/>
            <a:chOff x="1593000" y="2322568"/>
            <a:chExt cx="5957975" cy="643507"/>
          </a:xfrm>
        </p:grpSpPr>
        <p:sp>
          <p:nvSpPr>
            <p:cNvPr id="209" name="Google Shape;209;p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4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Linear Regression</a:t>
              </a:r>
              <a:endParaRPr sz="134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0033" rotWithShape="0" algn="bl" dir="2700000" dist="32013">
                <a:srgbClr val="000000">
                  <a:alpha val="17000"/>
                </a:srgbClr>
              </a:outerShdw>
            </a:effectLst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12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91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4397225" y="2323775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-341472" lvl="0" marL="51221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44"/>
                <a:buFont typeface="Roboto"/>
                <a:buChar char="●"/>
              </a:pPr>
              <a:r>
                <a:rPr lang="pt-BR" sz="1344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MSE: 0.0644</a:t>
              </a:r>
              <a:endParaRPr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1472" lvl="0" marL="51221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44"/>
                <a:buFont typeface="Roboto"/>
                <a:buChar char="●"/>
              </a:pPr>
              <a:r>
                <a:rPr lang="pt-BR" sz="1344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MAE: 0.1946</a:t>
              </a:r>
              <a:endParaRPr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1472" lvl="0" marL="51221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44"/>
                <a:buFont typeface="Roboto"/>
                <a:buChar char="●"/>
              </a:pPr>
              <a:r>
                <a:rPr lang="pt-BR" sz="1344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R</a:t>
              </a:r>
              <a:r>
                <a:rPr baseline="30000" lang="pt-BR" sz="1344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pt-BR" sz="1344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:	  0.6676</a:t>
              </a:r>
              <a:endParaRPr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6" name="Google Shape;216;p29"/>
          <p:cNvGrpSpPr/>
          <p:nvPr/>
        </p:nvGrpSpPr>
        <p:grpSpPr>
          <a:xfrm>
            <a:off x="1234634" y="3455597"/>
            <a:ext cx="6674719" cy="720977"/>
            <a:chOff x="1593000" y="2322568"/>
            <a:chExt cx="5957975" cy="643500"/>
          </a:xfrm>
        </p:grpSpPr>
        <p:sp>
          <p:nvSpPr>
            <p:cNvPr id="217" name="Google Shape;217;p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44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Random Forest</a:t>
              </a:r>
              <a:endParaRPr sz="1344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0033" rotWithShape="0" algn="bl" dir="2700000" dist="32013">
                <a:srgbClr val="000000">
                  <a:alpha val="17000"/>
                </a:srgbClr>
              </a:outerShdw>
            </a:effectLst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02400" lIns="102400" spcFirstLastPara="1" rIns="102400" wrap="square" tIns="10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12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91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223" name="Google Shape;223;p29"/>
          <p:cNvSpPr/>
          <p:nvPr/>
        </p:nvSpPr>
        <p:spPr>
          <a:xfrm>
            <a:off x="4376293" y="1988201"/>
            <a:ext cx="33288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MSE: 0.1119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MAE: 0.177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aseline="30000"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:	  0.4219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376293" y="2722153"/>
            <a:ext cx="33288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MSE: 0.1256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MAE: 0.1726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aseline="30000"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:	  0.3511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376293" y="3455432"/>
            <a:ext cx="33288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MSE: 0.0608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MAE: 0.1435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472" lvl="0" marL="5122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44"/>
              <a:buFont typeface="Roboto"/>
              <a:buChar char="●"/>
            </a:pP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aseline="30000"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34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:	  0.6859</a:t>
            </a:r>
            <a:endParaRPr sz="1344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Surrogate 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 title="surrogate_importance.png"/>
          <p:cNvPicPr preferRelativeResize="0"/>
          <p:nvPr/>
        </p:nvPicPr>
        <p:blipFill rotWithShape="1">
          <a:blip r:embed="rId4">
            <a:alphaModFix/>
          </a:blip>
          <a:srcRect b="0" l="0" r="0" t="4997"/>
          <a:stretch/>
        </p:blipFill>
        <p:spPr>
          <a:xfrm>
            <a:off x="753450" y="1276050"/>
            <a:ext cx="6217226" cy="35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18" y="4283088"/>
            <a:ext cx="1871875" cy="7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 txBox="1"/>
          <p:nvPr>
            <p:ph idx="4294967295" type="body"/>
          </p:nvPr>
        </p:nvSpPr>
        <p:spPr>
          <a:xfrm>
            <a:off x="311700" y="1147225"/>
            <a:ext cx="87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The work achieved consistent results, the methodologies applied worked, and we had excellent outcomes. It was very important to use observability methods, such as GradCam and surrogate models.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The application of machine learning studies in the healthcare is extremely exciting and crucial for the future we are building.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pt-BR" sz="1740">
                <a:latin typeface="Montserrat"/>
                <a:ea typeface="Montserrat"/>
                <a:cs typeface="Montserrat"/>
                <a:sym typeface="Montserrat"/>
              </a:rPr>
              <a:t>Faster diagnoses allow people to treat illnesses and recover faster, purposeful technology can change lives.</a:t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174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idx="4294967295" type="ctrTitle"/>
          </p:nvPr>
        </p:nvSpPr>
        <p:spPr>
          <a:xfrm>
            <a:off x="311700" y="744575"/>
            <a:ext cx="8520600" cy="34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you!!!</a:t>
            </a:r>
            <a:endParaRPr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Gracias!!!</a:t>
            </a:r>
            <a:endParaRPr sz="2933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45" name="Google Shape;245;p32" title="marca-universidad-de-la-laguna-original.png"/>
          <p:cNvPicPr preferRelativeResize="0"/>
          <p:nvPr/>
        </p:nvPicPr>
        <p:blipFill rotWithShape="1">
          <a:blip r:embed="rId3">
            <a:alphaModFix/>
          </a:blip>
          <a:srcRect b="23398" l="11074" r="7855" t="20716"/>
          <a:stretch/>
        </p:blipFill>
        <p:spPr>
          <a:xfrm>
            <a:off x="7208050" y="4337700"/>
            <a:ext cx="1624250" cy="4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 title="IPB-Cor@2x.png"/>
          <p:cNvPicPr preferRelativeResize="0"/>
          <p:nvPr/>
        </p:nvPicPr>
        <p:blipFill rotWithShape="1">
          <a:blip r:embed="rId4">
            <a:alphaModFix/>
          </a:blip>
          <a:srcRect b="10931" l="0" r="0" t="7794"/>
          <a:stretch/>
        </p:blipFill>
        <p:spPr>
          <a:xfrm>
            <a:off x="311700" y="4323737"/>
            <a:ext cx="2414299" cy="5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8946" y="220500"/>
            <a:ext cx="2073994" cy="41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071" y="220500"/>
            <a:ext cx="2602305" cy="5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